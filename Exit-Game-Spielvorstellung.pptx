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5943600"/>
            <a:ext cx="18288000" cy="9144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0" y="6126480"/>
            <a:ext cx="1828800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160020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60020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EXIT-GAME PROJEKT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972800" cy="12801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5800" b="1">
                <a:solidFill>
                  <a:srgbClr val="E6EDF3"/>
                </a:solidFill>
                <a:latin typeface="Segoe UI"/>
              </a:rPr>
              <a:t>Vom realen Raum</a:t>
            </a:r>
          </a:p>
          <a:p>
            <a:pPr algn="l"/>
            <a:r>
              <a:rPr sz="5800" b="1">
                <a:solidFill>
                  <a:srgbClr val="E6EDF3"/>
                </a:solidFill>
                <a:latin typeface="Segoe UI"/>
              </a:rPr>
              <a:t>ins digitale Spiel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97280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8B949E"/>
                </a:solidFill>
                <a:latin typeface="Segoe UI"/>
              </a:rPr>
              <a:t>Sechs Raetsel - sechs Mechaniken - eine Mission: Entkommen aus dem Knast.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54880"/>
            <a:ext cx="3291840" cy="9601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92040"/>
            <a:ext cx="29260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Segoe UI"/>
              </a:rPr>
              <a:t>Florian Maier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12080"/>
            <a:ext cx="29260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Entwicklung &amp; Gamedesign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754880"/>
            <a:ext cx="3291840" cy="9601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892040"/>
            <a:ext cx="29260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Segoe UI"/>
              </a:rPr>
              <a:t>Unity + Arduino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212080"/>
            <a:ext cx="29260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Hybrider Hard- &amp; Software-Stack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754880"/>
            <a:ext cx="3291840" cy="9601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892040"/>
            <a:ext cx="29260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Segoe UI"/>
              </a:rPr>
              <a:t>Mai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212080"/>
            <a:ext cx="29260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Projektabschluss &amp;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Exit-Game  -  Spielvorstellung &amp; Technische Loesung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96012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601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WILLKOMMEN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Sie haben das Spiel gerade gespielt - was nun?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0" cy="381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8B949E"/>
                </a:solidFill>
                <a:latin typeface="Segoe UI"/>
              </a:rPr>
              <a:t>Diese Praesentation gibt Ihnen einen Blick hinter die Kulissen.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3657600" cy="3291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3657600" cy="9144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31089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39D353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31089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Segoe UI"/>
              </a:rPr>
              <a:t>Was Sie erlebt haben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3108960" cy="18288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Sechs Raetsel-Stationen, gesteuert ueber Tastatur, Maus und echte Hardware-Sensoren.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468880"/>
            <a:ext cx="3657600" cy="3291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468880"/>
            <a:ext cx="3657600" cy="914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743200"/>
            <a:ext cx="31089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58A6FF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29000"/>
            <a:ext cx="31089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Segoe UI"/>
              </a:rPr>
              <a:t>Was Sie jetzt sehen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886200"/>
            <a:ext cx="3108960" cy="18288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Den Ablauf hinter dem Vorhang: Architektur, Arduino-Bruecke, Level-Mechaniken im Detail.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468880"/>
            <a:ext cx="3657600" cy="3291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468880"/>
            <a:ext cx="3657600" cy="91440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743200"/>
            <a:ext cx="31089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3200" b="1">
                <a:solidFill>
                  <a:srgbClr val="00BFC4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429000"/>
            <a:ext cx="31089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Segoe UI"/>
              </a:rPr>
              <a:t>Was Sie mitnehmen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886200"/>
            <a:ext cx="3108960" cy="18288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Wie reale Hardware und Unity Hand in Hand spielen - und wo die Knackpunkte lagen.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Exit-Game  -  Spielvorstellung &amp; Technische Loesung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KONZEPT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Das Spiel in einem Satz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0" cy="381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91440" cy="13716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515600" cy="1097280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2000" b="1">
                <a:solidFill>
                  <a:srgbClr val="E6EDF3"/>
                </a:solidFill>
                <a:latin typeface="Segoe UI"/>
              </a:rPr>
              <a:t>"Ein Escape Room im Digitalen - mit echten Knoepfen,</a:t>
            </a:r>
          </a:p>
          <a:p>
            <a:pPr algn="l"/>
            <a:r>
              <a:rPr sz="2000" b="1">
                <a:solidFill>
                  <a:srgbClr val="E6EDF3"/>
                </a:solidFill>
                <a:latin typeface="Segoe UI"/>
              </a:rPr>
              <a:t> Sensoren und einem digitalen Mithaeftling."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2697480" cy="2651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429000"/>
            <a:ext cx="73152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SETTING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33172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E6EDF3"/>
                </a:solidFill>
                <a:latin typeface="Segoe UI"/>
              </a:rPr>
              <a:t>Gefaengnis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2331720" cy="1371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Zelle, Lager, Bibliothek, Computerraum, Werkstatt, 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200400"/>
            <a:ext cx="2697480" cy="2651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40" y="3429000"/>
            <a:ext cx="731520" cy="25603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42900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GENRE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840480"/>
            <a:ext cx="233172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E6EDF3"/>
                </a:solidFill>
                <a:latin typeface="Segoe UI"/>
              </a:rPr>
              <a:t>Escape / Puzzle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480560"/>
            <a:ext cx="2331720" cy="1371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Erstperson-3D &amp; UI-Panels, sechs Raetsel-Mechaniken.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3200400"/>
            <a:ext cx="2697480" cy="2651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3429000"/>
            <a:ext cx="868680" cy="256032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3429000"/>
            <a:ext cx="86868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PLATTFORM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840480"/>
            <a:ext cx="233172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E6EDF3"/>
                </a:solidFill>
                <a:latin typeface="Segoe UI"/>
              </a:rPr>
              <a:t>PC + 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4480560"/>
            <a:ext cx="2331720" cy="1371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Unity Windows-Build, Arduino-Bridge ueber USB.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399" y="3200400"/>
            <a:ext cx="2697480" cy="26517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79" y="3429000"/>
            <a:ext cx="960120" cy="256032"/>
          </a:xfrm>
          <a:prstGeom prst="rect">
            <a:avLst/>
          </a:prstGeom>
          <a:solidFill>
            <a:srgbClr val="FFA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79" y="3429000"/>
            <a:ext cx="9601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SPIELDAUER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79" y="3840480"/>
            <a:ext cx="233172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E6EDF3"/>
                </a:solidFill>
                <a:latin typeface="Segoe UI"/>
              </a:rPr>
              <a:t>~15-25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79" y="4480560"/>
            <a:ext cx="2331720" cy="1371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Lineare Progression, eine Sitzung, kein Speicherstand.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Exit-Game  -  Spielvorstellung &amp; Technische Loesung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31520" cy="25603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VORGANG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So spielt sich das Spiel - von Start bis 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0" cy="381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0241280" cy="25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27889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25400">
            <a:solidFill>
              <a:srgbClr val="39D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788920"/>
            <a:ext cx="731520" cy="731520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39D353"/>
                </a:solidFill>
                <a:latin typeface="Segoe UI"/>
              </a:rP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1463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E6EDF3"/>
                </a:solidFill>
                <a:latin typeface="Segoe UI"/>
              </a:rPr>
              <a:t>Zelle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164592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  <a:latin typeface="Segoe UI"/>
              </a:rPr>
              <a:t>Hex-Code</a:t>
            </a:r>
          </a:p>
          <a:p>
            <a:pPr algn="ctr"/>
            <a:r>
              <a:rPr sz="1000" b="0">
                <a:solidFill>
                  <a:srgbClr val="8B949E"/>
                </a:solidFill>
                <a:latin typeface="Segoe UI"/>
              </a:rPr>
              <a:t>auf Decke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7889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254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788920"/>
            <a:ext cx="731520" cy="731520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58A6FF"/>
                </a:solidFill>
                <a:latin typeface="Segoe UI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240280"/>
            <a:ext cx="1463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E6EDF3"/>
                </a:solidFill>
                <a:latin typeface="Segoe UI"/>
              </a:rPr>
              <a:t>Lager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703320"/>
            <a:ext cx="164592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  <a:latin typeface="Segoe UI"/>
              </a:rPr>
              <a:t>Staubwand</a:t>
            </a:r>
          </a:p>
          <a:p>
            <a:pPr algn="ctr"/>
            <a:r>
              <a:rPr sz="1000" b="0">
                <a:solidFill>
                  <a:srgbClr val="8B949E"/>
                </a:solidFill>
                <a:latin typeface="Segoe UI"/>
              </a:rPr>
              <a:t>+ Sensor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7889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25400">
            <a:solidFill>
              <a:srgbClr val="00B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788920"/>
            <a:ext cx="731520" cy="731520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00BFC4"/>
                </a:solidFill>
                <a:latin typeface="Segoe UI"/>
              </a:rPr>
              <a:t>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240280"/>
            <a:ext cx="1463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E6EDF3"/>
                </a:solidFill>
                <a:latin typeface="Segoe UI"/>
              </a:rPr>
              <a:t>Biblio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703320"/>
            <a:ext cx="164592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  <a:latin typeface="Segoe UI"/>
              </a:rPr>
              <a:t>Bibel +</a:t>
            </a:r>
          </a:p>
          <a:p>
            <a:pPr algn="ctr"/>
            <a:r>
              <a:rPr sz="1000" b="0">
                <a:solidFill>
                  <a:srgbClr val="8B949E"/>
                </a:solidFill>
                <a:latin typeface="Segoe UI"/>
              </a:rPr>
              <a:t>Farbcode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7889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25400">
            <a:solidFill>
              <a:srgbClr val="FFA6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788920"/>
            <a:ext cx="731520" cy="731520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A657"/>
                </a:solidFill>
                <a:latin typeface="Segoe UI"/>
              </a:rPr>
              <a:t>L4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240280"/>
            <a:ext cx="1463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E6EDF3"/>
                </a:solidFill>
                <a:latin typeface="Segoe UI"/>
              </a:rPr>
              <a:t>Computer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703320"/>
            <a:ext cx="164592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  <a:latin typeface="Segoe UI"/>
              </a:rPr>
              <a:t>Stealth-</a:t>
            </a:r>
          </a:p>
          <a:p>
            <a:pPr algn="ctr"/>
            <a:r>
              <a:rPr sz="1000" b="0">
                <a:solidFill>
                  <a:srgbClr val="8B949E"/>
                </a:solidFill>
                <a:latin typeface="Segoe UI"/>
              </a:rPr>
              <a:t>Minigame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7889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25400">
            <a:solidFill>
              <a:srgbClr val="C0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2788920"/>
            <a:ext cx="731520" cy="731520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C08CFF"/>
                </a:solidFill>
                <a:latin typeface="Segoe UI"/>
              </a:rPr>
              <a:t>L5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240280"/>
            <a:ext cx="1463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E6EDF3"/>
                </a:solidFill>
                <a:latin typeface="Segoe UI"/>
              </a:rPr>
              <a:t>Werkstatt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703320"/>
            <a:ext cx="164592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  <a:latin typeface="Segoe UI"/>
              </a:rPr>
              <a:t>Breadboard-</a:t>
            </a:r>
          </a:p>
          <a:p>
            <a:pPr algn="ctr"/>
            <a:r>
              <a:rPr sz="1000" b="0">
                <a:solidFill>
                  <a:srgbClr val="8B949E"/>
                </a:solidFill>
                <a:latin typeface="Segoe UI"/>
              </a:rPr>
              <a:t>Schaltung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38360" y="27889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2788920"/>
            <a:ext cx="731520" cy="731520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6B6B"/>
                </a:solidFill>
                <a:latin typeface="Segoe UI"/>
              </a:rPr>
              <a:t>L6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240280"/>
            <a:ext cx="1463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E6EDF3"/>
                </a:solidFill>
                <a:latin typeface="Segoe UI"/>
              </a:rPr>
              <a:t>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703320"/>
            <a:ext cx="164592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  <a:latin typeface="Segoe UI"/>
              </a:rPr>
              <a:t>Hitze /</a:t>
            </a:r>
          </a:p>
          <a:p>
            <a:pPr algn="ctr"/>
            <a:r>
              <a:rPr sz="1000" b="0">
                <a:solidFill>
                  <a:srgbClr val="8B949E"/>
                </a:solidFill>
                <a:latin typeface="Segoe UI"/>
              </a:rPr>
              <a:t>Temperatur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754880"/>
            <a:ext cx="91440" cy="13716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Segoe UI"/>
              </a:rPr>
              <a:t>Linearer Levelfluss mit klarer Eskalation der Mechanik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Jedes Level steigert die Komplexitaet: einfache Code-Eingabe -&gt; Sensorinteraktion -&gt; Stealth -&gt; physische Schaltung -&gt; finale Sensor-Verifikation. Big Yahu (NPC) fuehrt narrativ durch die Stationen.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Exit-Game  -  Spielvorstellung &amp; Technische Loesung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417320" cy="25603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4173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LEVEL IM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Was passiert wo - was war die Herausforderung?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0" cy="381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solidFill>
            <a:srgbClr val="1F262F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4572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  <a:latin typeface="Segoe U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37360"/>
            <a:ext cx="155448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  <a:latin typeface="Segoe UI"/>
              </a:rPr>
              <a:t>Schauplatz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737360"/>
            <a:ext cx="329184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  <a:latin typeface="Segoe UI"/>
              </a:rPr>
              <a:t>Mechanik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283464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  <a:latin typeface="Segoe UI"/>
              </a:rPr>
              <a:t>Spielereingabe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1737360"/>
            <a:ext cx="201168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  <a:latin typeface="Segoe UI"/>
              </a:rPr>
              <a:t>Hardware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11064240" cy="548640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21992"/>
            <a:ext cx="4572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240280"/>
            <a:ext cx="15544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Zelle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240280"/>
            <a:ext cx="32918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Hex-Code 66A auf Decke -&gt; Numpad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28346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Tastatur / Numpad-UI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240280"/>
            <a:ext cx="20116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51760"/>
            <a:ext cx="11064240" cy="548640"/>
          </a:xfrm>
          <a:prstGeom prst="rect">
            <a:avLst/>
          </a:prstGeom>
          <a:solidFill>
            <a:srgbClr val="1F262F"/>
          </a:solidFill>
          <a:ln w="508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770632"/>
            <a:ext cx="4572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788920"/>
            <a:ext cx="15544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Abstellraum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788920"/>
            <a:ext cx="32918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Staub wegpusten + Joystick-Combo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788920"/>
            <a:ext cx="28346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Mikrofon-Pegel / Tasten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788920"/>
            <a:ext cx="20116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Feuchtesensor (geplant)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19272"/>
            <a:ext cx="4572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337560"/>
            <a:ext cx="15544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Bibliothek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337560"/>
            <a:ext cx="32918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Richtige Bibel + Farbcode scannen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337560"/>
            <a:ext cx="28346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Buchauswahl + Farbsensor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337560"/>
            <a:ext cx="20116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Color-Sensor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749039"/>
            <a:ext cx="11064240" cy="548640"/>
          </a:xfrm>
          <a:prstGeom prst="rect">
            <a:avLst/>
          </a:prstGeom>
          <a:solidFill>
            <a:srgbClr val="1F262F"/>
          </a:solidFill>
          <a:ln w="508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67911"/>
            <a:ext cx="4572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886199"/>
            <a:ext cx="15544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Computer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3886199"/>
            <a:ext cx="32918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Stealth-Minigame, Wachen umgehen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886199"/>
            <a:ext cx="28346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Maus / WASD im UI-Raster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886199"/>
            <a:ext cx="20116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11064240" cy="548640"/>
          </a:xfrm>
          <a:prstGeom prst="rect">
            <a:avLst/>
          </a:prstGeom>
          <a:solidFill>
            <a:srgbClr val="161B22"/>
          </a:solidFill>
          <a:ln w="508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416552"/>
            <a:ext cx="4572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434840"/>
            <a:ext cx="15544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Werkstatt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4434840"/>
            <a:ext cx="32918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Breadboard-Schaltung loesen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434840"/>
            <a:ext cx="28346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Echte Kabel &amp; Komponenten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4434840"/>
            <a:ext cx="20116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Arduino I/O Pins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solidFill>
            <a:srgbClr val="1F262F"/>
          </a:solidFill>
          <a:ln w="508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965192"/>
            <a:ext cx="4572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  <a:latin typeface="Segoe U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4983480"/>
            <a:ext cx="15544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4983480"/>
            <a:ext cx="32918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Hitze ans Schloss - Foehn/Brenner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983480"/>
            <a:ext cx="28346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Temperatur halten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4983480"/>
            <a:ext cx="20116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Temperatursensor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Exit-Game  -  Spielvorstellung &amp; Technische Loesung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91640" cy="256032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69164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TECHNISCHE LOESUNG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Die drei Schichten der Architektur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0" cy="38100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6424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91440" cy="13716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123444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23444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PRAESENTATION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1148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Segoe UI"/>
              </a:rPr>
              <a:t>Unity 3D, UI-Panels, NPCs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194560"/>
            <a:ext cx="868680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39D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194560"/>
            <a:ext cx="868680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39D353"/>
                </a:solidFill>
                <a:latin typeface="Segoe UI"/>
              </a:rPr>
              <a:t>Unity 2022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7608" y="2194560"/>
            <a:ext cx="1024128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39D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7608" y="2194560"/>
            <a:ext cx="1024128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39D353"/>
                </a:solidFill>
                <a:latin typeface="Segoe UI"/>
              </a:rPr>
              <a:t>Input 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41464" y="2194560"/>
            <a:ext cx="946404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39D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1464" y="2194560"/>
            <a:ext cx="946404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39D353"/>
                </a:solidFill>
                <a:latin typeface="Segoe UI"/>
              </a:rPr>
              <a:t>TextMeshPro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7596" y="2194560"/>
            <a:ext cx="946404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39D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7596" y="2194560"/>
            <a:ext cx="946404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39D353"/>
                </a:solidFill>
                <a:latin typeface="Segoe UI"/>
              </a:rPr>
              <a:t>Cinemachine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53728" y="2194560"/>
            <a:ext cx="1568196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2194560"/>
            <a:ext cx="1568196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  <a:latin typeface="Segoe UI"/>
              </a:rPr>
              <a:t>BigYahuDialogSystem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46120"/>
            <a:ext cx="1106424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246120"/>
            <a:ext cx="91440" cy="13716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383280"/>
            <a:ext cx="1600200" cy="25603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383280"/>
            <a:ext cx="160020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LOGIK / STEUERUNG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49040"/>
            <a:ext cx="41148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Segoe UI"/>
              </a:rPr>
              <a:t>C# MonoBehaviours, GameManager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3749040"/>
            <a:ext cx="946404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3749040"/>
            <a:ext cx="946404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  <a:latin typeface="Segoe UI"/>
              </a:rPr>
              <a:t>GameManager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5332" y="3749040"/>
            <a:ext cx="946404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5332" y="3749040"/>
            <a:ext cx="946404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  <a:latin typeface="Segoe UI"/>
              </a:rPr>
              <a:t>Level1_Cell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41464" y="3749040"/>
            <a:ext cx="1257300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1464" y="3749040"/>
            <a:ext cx="1257300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  <a:latin typeface="Segoe UI"/>
              </a:rPr>
              <a:t>Level2_DustWall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8492" y="3749040"/>
            <a:ext cx="1335024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8492" y="3749040"/>
            <a:ext cx="1335024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  <a:latin typeface="Segoe UI"/>
              </a:rPr>
              <a:t>Level3_ColorCode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53244" y="3749040"/>
            <a:ext cx="1179576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53244" y="3749040"/>
            <a:ext cx="1179576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  <a:latin typeface="Segoe UI"/>
              </a:rPr>
              <a:t>Level4_Stealth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42548" y="3749040"/>
            <a:ext cx="1412748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42548" y="3749040"/>
            <a:ext cx="1412748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  <a:latin typeface="Segoe UI"/>
              </a:rPr>
              <a:t>Level5_Breadboard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0" y="4160520"/>
            <a:ext cx="1335024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4160520"/>
            <a:ext cx="1335024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  <a:latin typeface="Segoe UI"/>
              </a:rPr>
              <a:t>Level6_FinalGate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800600"/>
            <a:ext cx="1106424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800600"/>
            <a:ext cx="91440" cy="1371600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" y="4937760"/>
            <a:ext cx="1508760" cy="256032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937760"/>
            <a:ext cx="150876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HARDWARE-BRUECKE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303520"/>
            <a:ext cx="41148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Segoe UI"/>
              </a:rPr>
              <a:t>Arduino, Sensoren, Serial-Protokoll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0" y="5303520"/>
            <a:ext cx="1101852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00B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0" y="5303520"/>
            <a:ext cx="1101852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00BFC4"/>
                </a:solidFill>
                <a:latin typeface="Segoe UI"/>
              </a:rPr>
              <a:t>ArduinoBridge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40780" y="5303520"/>
            <a:ext cx="868680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00B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0780" y="5303520"/>
            <a:ext cx="868680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00BFC4"/>
                </a:solidFill>
                <a:latin typeface="Segoe UI"/>
              </a:rPr>
              <a:t>SerialPort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19188" y="5303520"/>
            <a:ext cx="1024128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00B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19188" y="5303520"/>
            <a:ext cx="1024128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00BFC4"/>
                </a:solidFill>
                <a:latin typeface="Segoe UI"/>
              </a:rPr>
              <a:t>TCP-Emulator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53044" y="5303520"/>
            <a:ext cx="1024128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FFA6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53044" y="5303520"/>
            <a:ext cx="1024128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A657"/>
                </a:solidFill>
                <a:latin typeface="Segoe UI"/>
              </a:rPr>
              <a:t>Color-Sensor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86900" y="5303520"/>
            <a:ext cx="713232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FFA6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86900" y="5303520"/>
            <a:ext cx="713232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A657"/>
                </a:solidFill>
                <a:latin typeface="Segoe UI"/>
              </a:rPr>
              <a:t>Humidity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09860" y="5303520"/>
            <a:ext cx="946404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FFA6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09860" y="5303520"/>
            <a:ext cx="946404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A657"/>
                </a:solidFill>
                <a:latin typeface="Segoe UI"/>
              </a:rPr>
              <a:t>Temperature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0" y="5715000"/>
            <a:ext cx="1179576" cy="292608"/>
          </a:xfrm>
          <a:prstGeom prst="roundRect">
            <a:avLst>
              <a:gd name="adj" fmla="val 10000"/>
            </a:avLst>
          </a:prstGeom>
          <a:solidFill>
            <a:srgbClr val="1F262F"/>
          </a:solidFill>
          <a:ln w="9525">
            <a:solidFill>
              <a:srgbClr val="FFA6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0" y="5715000"/>
            <a:ext cx="1179576" cy="292608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A657"/>
                </a:solidFill>
                <a:latin typeface="Segoe UI"/>
              </a:rPr>
              <a:t>Breadboard I/O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Exit-Game  -  Spielvorstellung &amp; Technische Loesung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960120" cy="256032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601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DATENFLUSS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Von der Hand am Sensor bis zum Levelwechsel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0" cy="38100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874519" cy="2377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874519" cy="91440"/>
          </a:xfrm>
          <a:prstGeom prst="rect">
            <a:avLst/>
          </a:prstGeom>
          <a:solidFill>
            <a:srgbClr val="FFA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731520" cy="256032"/>
          </a:xfrm>
          <a:prstGeom prst="rect">
            <a:avLst/>
          </a:prstGeom>
          <a:solidFill>
            <a:srgbClr val="FFA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SENSOR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1508759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Segoe UI"/>
              </a:rPr>
              <a:t>Spieler</a:t>
            </a:r>
          </a:p>
          <a:p>
            <a:pPr algn="l"/>
            <a:r>
              <a:rPr sz="1500" b="1">
                <a:solidFill>
                  <a:srgbClr val="E6EDF3"/>
                </a:solidFill>
                <a:latin typeface="Segoe UI"/>
              </a:rPr>
              <a:t>interagiert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1508759" cy="9144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onsolas"/>
              </a:rPr>
              <a:t>Drehknopf, Foehn,</a:t>
            </a:r>
          </a:p>
          <a:p>
            <a:pPr algn="l"/>
            <a:r>
              <a:rPr sz="1000" b="0">
                <a:solidFill>
                  <a:srgbClr val="8B949E"/>
                </a:solidFill>
                <a:latin typeface="Consolas"/>
              </a:rPr>
              <a:t>Kabel, Mikro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41447" y="3017520"/>
            <a:ext cx="274320" cy="365760"/>
          </a:xfrm>
          <a:prstGeom prst="rightArrow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199" y="2011680"/>
            <a:ext cx="1874519" cy="2377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199" y="2011680"/>
            <a:ext cx="1874519" cy="91440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79" y="2240280"/>
            <a:ext cx="731520" cy="256032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79" y="224028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ARDUINO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79" y="2651760"/>
            <a:ext cx="1508759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Segoe UI"/>
              </a:rPr>
              <a:t>Misst &amp;</a:t>
            </a:r>
          </a:p>
          <a:p>
            <a:pPr algn="l"/>
            <a:r>
              <a:rPr sz="1500" b="1">
                <a:solidFill>
                  <a:srgbClr val="E6EDF3"/>
                </a:solidFill>
                <a:latin typeface="Segoe UI"/>
              </a:rPr>
              <a:t>sendet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79" y="3429000"/>
            <a:ext cx="1508759" cy="9144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onsolas"/>
              </a:rPr>
              <a:t>0x60:42\n</a:t>
            </a:r>
          </a:p>
          <a:p>
            <a:pPr algn="l"/>
            <a:r>
              <a:rPr sz="1000" b="0">
                <a:solidFill>
                  <a:srgbClr val="8B949E"/>
                </a:solidFill>
                <a:latin typeface="Consolas"/>
              </a:rPr>
              <a:t>ueber Serial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636006" y="3017520"/>
            <a:ext cx="274320" cy="365760"/>
          </a:xfrm>
          <a:prstGeom prst="rightArrow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58" y="2011680"/>
            <a:ext cx="1874519" cy="2377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58" y="2011680"/>
            <a:ext cx="1874519" cy="914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38" y="2240280"/>
            <a:ext cx="731520" cy="25603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38" y="224028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BRIDGE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38" y="2651760"/>
            <a:ext cx="1508759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Segoe UI"/>
              </a:rPr>
              <a:t>Liest auf</a:t>
            </a:r>
          </a:p>
          <a:p>
            <a:pPr algn="l"/>
            <a:r>
              <a:rPr sz="1500" b="1">
                <a:solidFill>
                  <a:srgbClr val="E6EDF3"/>
                </a:solidFill>
                <a:latin typeface="Segoe UI"/>
              </a:rPr>
              <a:t>BG-Thread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38" y="3429000"/>
            <a:ext cx="1508759" cy="9144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onsolas"/>
              </a:rPr>
              <a:t>ConcurrentQueue</a:t>
            </a:r>
          </a:p>
          <a:p>
            <a:pPr algn="l"/>
            <a:r>
              <a:rPr sz="1000" b="0">
                <a:solidFill>
                  <a:srgbClr val="8B949E"/>
                </a:solidFill>
                <a:latin typeface="Consolas"/>
              </a:rPr>
              <a:t>mainthread-safe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830565" y="3017520"/>
            <a:ext cx="274320" cy="365760"/>
          </a:xfrm>
          <a:prstGeom prst="rightArrow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17" y="2011680"/>
            <a:ext cx="1874519" cy="2377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17" y="2011680"/>
            <a:ext cx="1874519" cy="9144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197" y="2240280"/>
            <a:ext cx="114300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7" y="2240280"/>
            <a:ext cx="114300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LEVEL-SKRIPT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197" y="2651760"/>
            <a:ext cx="1508759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Segoe UI"/>
              </a:rPr>
              <a:t>Parst &amp;</a:t>
            </a:r>
          </a:p>
          <a:p>
            <a:pPr algn="l"/>
            <a:r>
              <a:rPr sz="1500" b="1">
                <a:solidFill>
                  <a:srgbClr val="E6EDF3"/>
                </a:solidFill>
                <a:latin typeface="Segoe UI"/>
              </a:rPr>
              <a:t>bewertet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197" y="3429000"/>
            <a:ext cx="1508759" cy="9144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onsolas"/>
              </a:rPr>
              <a:t>OnTemp / OnColor</a:t>
            </a:r>
          </a:p>
          <a:p>
            <a:pPr algn="l"/>
            <a:r>
              <a:rPr sz="1000" b="0">
                <a:solidFill>
                  <a:srgbClr val="8B949E"/>
                </a:solidFill>
                <a:latin typeface="Consolas"/>
              </a:rPr>
              <a:t>/ OnHumidity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025124" y="3017520"/>
            <a:ext cx="274320" cy="365760"/>
          </a:xfrm>
          <a:prstGeom prst="rightArrow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6876" y="2011680"/>
            <a:ext cx="1874519" cy="2377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26876" y="2011680"/>
            <a:ext cx="1874519" cy="91440"/>
          </a:xfrm>
          <a:prstGeom prst="rect">
            <a:avLst/>
          </a:prstGeom>
          <a:solidFill>
            <a:srgbClr val="C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09756" y="2240280"/>
            <a:ext cx="1051560" cy="256032"/>
          </a:xfrm>
          <a:prstGeom prst="rect">
            <a:avLst/>
          </a:prstGeom>
          <a:solidFill>
            <a:srgbClr val="C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56" y="2240280"/>
            <a:ext cx="105156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GAMEMANAGER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56" y="2651760"/>
            <a:ext cx="1508759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Segoe UI"/>
              </a:rPr>
              <a:t>Schaltet</a:t>
            </a:r>
          </a:p>
          <a:p>
            <a:pPr algn="l"/>
            <a:r>
              <a:rPr sz="1500" b="1">
                <a:solidFill>
                  <a:srgbClr val="E6EDF3"/>
                </a:solidFill>
                <a:latin typeface="Segoe UI"/>
              </a:rPr>
              <a:t>Level 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56" y="3429000"/>
            <a:ext cx="1508759" cy="9144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onsolas"/>
              </a:rPr>
              <a:t>CompleteCurrentLevel</a:t>
            </a:r>
          </a:p>
          <a:p>
            <a:pPr algn="l"/>
            <a:r>
              <a:rPr sz="1000" b="0">
                <a:solidFill>
                  <a:srgbClr val="8B949E"/>
                </a:solidFill>
                <a:latin typeface="Consolas"/>
              </a:rPr>
              <a:t>-&gt; Panel-Wechsel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846320"/>
            <a:ext cx="91440" cy="1280160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Segoe UI"/>
              </a:rPr>
              <a:t>Thread-sicher dank ConcurrentQueue + Mainthread-Dispatch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Serial-Reads laufen auf einem dedizierten Hintergrund-Thread - alle Events werden ueber eine ConcurrentQueue auf den Unity-Mainthread geleitet. Kein Freeze, kein Race-Condition, sauberer Reconnect mit Timeout.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Exit-Game  -  Spielvorstellung &amp; Technische Loesung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325880" cy="256032"/>
          </a:xfrm>
          <a:prstGeom prst="rect">
            <a:avLst/>
          </a:prstGeom>
          <a:solidFill>
            <a:srgbClr val="FFA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32588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ARDUINO-BRIDGE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Das Herz der Hybrid-Loesung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0" cy="38100"/>
          </a:xfrm>
          <a:prstGeom prst="rect">
            <a:avLst/>
          </a:prstGeom>
          <a:solidFill>
            <a:srgbClr val="FFA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86400" cy="4434840"/>
          </a:xfrm>
          <a:prstGeom prst="rect">
            <a:avLst/>
          </a:prstGeom>
          <a:solidFill>
            <a:srgbClr val="1F262F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868680" cy="256032"/>
          </a:xfrm>
          <a:prstGeom prst="rect">
            <a:avLst/>
          </a:prstGeom>
          <a:solidFill>
            <a:srgbClr val="FFA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86868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PROTOKOLL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Consolas"/>
              </a:rPr>
              <a:t>// Eingehende Nachrichten (Arduino -&gt; Unity)</a:t>
            </a:r>
          </a:p>
          <a:p>
            <a:pPr algn="l"/>
            <a:r>
              <a:rPr sz="1100" b="0">
                <a:solidFill>
                  <a:srgbClr val="E6EDF3"/>
                </a:solidFill>
                <a:latin typeface="Consolas"/>
              </a:rPr>
              <a:t>KEY:5         -&gt; Keypad-Taste 5</a:t>
            </a:r>
          </a:p>
          <a:p>
            <a:pPr algn="l"/>
            <a:r>
              <a:rPr sz="1100" b="0">
                <a:solidFill>
                  <a:srgbClr val="E6EDF3"/>
                </a:solidFill>
                <a:latin typeface="Consolas"/>
              </a:rPr>
              <a:t>HUMIDITY:72   -&gt; Feuchtigkeit 72%</a:t>
            </a:r>
          </a:p>
          <a:p>
            <a:pPr algn="l"/>
            <a:r>
              <a:rPr sz="1100" b="0">
                <a:solidFill>
                  <a:srgbClr val="E6EDF3"/>
                </a:solidFill>
                <a:latin typeface="Consolas"/>
              </a:rPr>
              <a:t>COLOR:#FF8800 -&gt; Farbsensor Hex</a:t>
            </a:r>
          </a:p>
          <a:p>
            <a:pPr algn="l"/>
            <a:r>
              <a:rPr sz="1100" b="0">
                <a:solidFill>
                  <a:srgbClr val="E6EDF3"/>
                </a:solidFill>
                <a:latin typeface="Consolas"/>
              </a:rPr>
              <a:t>TEMP:58       -&gt; Temperatur in Grad</a:t>
            </a:r>
          </a:p>
          <a:p>
            <a:pPr algn="l"/>
            <a:r>
              <a:rPr sz="1100" b="0">
                <a:solidFill>
                  <a:srgbClr val="E6EDF3"/>
                </a:solidFill>
                <a:latin typeface="Consolas"/>
              </a:rPr>
              <a:t>60:58         -&gt; Hex-Format (Cmd 0x60)</a:t>
            </a:r>
          </a:p>
          <a:p>
            <a:pPr algn="l"/>
            <a:r>
              <a:rPr sz="1100" b="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E6EDF3"/>
                </a:solidFill>
                <a:latin typeface="Consolas"/>
              </a:rPr>
              <a:t>// Ausgehende Nachrichten (Unity -&gt; Arduino)</a:t>
            </a:r>
          </a:p>
          <a:p>
            <a:pPr algn="l"/>
            <a:r>
              <a:rPr sz="1100" b="0">
                <a:solidFill>
                  <a:srgbClr val="E6EDF3"/>
                </a:solidFill>
                <a:latin typeface="Consolas"/>
              </a:rPr>
              <a:t>Send(0xFF, "ping");      // keepalive</a:t>
            </a:r>
          </a:p>
          <a:p>
            <a:pPr algn="l"/>
            <a:r>
              <a:rPr sz="1100" b="0">
                <a:solidFill>
                  <a:srgbClr val="E6EDF3"/>
                </a:solidFill>
                <a:latin typeface="Consolas"/>
              </a:rPr>
              <a:t>Send(0x50, "reset");     // breadboard</a:t>
            </a:r>
          </a:p>
          <a:p>
            <a:pPr algn="l"/>
            <a:r>
              <a:rPr sz="1100" b="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E6EDF3"/>
                </a:solidFill>
                <a:latin typeface="Consolas"/>
              </a:rPr>
              <a:t>// Doppelte API in C#</a:t>
            </a:r>
          </a:p>
          <a:p>
            <a:pPr algn="l"/>
            <a:r>
              <a:rPr sz="1100" b="0">
                <a:solidFill>
                  <a:srgbClr val="E6EDF3"/>
                </a:solidFill>
                <a:latin typeface="Consolas"/>
              </a:rPr>
              <a:t>OnKeypadKey += key =&gt; ...;</a:t>
            </a:r>
          </a:p>
          <a:p>
            <a:pPr algn="l"/>
            <a:r>
              <a:rPr sz="1100" b="0">
                <a:solidFill>
                  <a:srgbClr val="E6EDF3"/>
                </a:solidFill>
                <a:latin typeface="Consolas"/>
              </a:rPr>
              <a:t>OnHumidity  += val =&gt; ...;</a:t>
            </a:r>
          </a:p>
          <a:p>
            <a:pPr algn="l"/>
            <a:r>
              <a:rPr sz="1100" b="0">
                <a:solidFill>
                  <a:srgbClr val="E6EDF3"/>
                </a:solidFill>
                <a:latin typeface="Consolas"/>
              </a:rPr>
              <a:t>RegisterHandler(0x60, payload =&gt; ...);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77724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77724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03120"/>
            <a:ext cx="5212080" cy="914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103120"/>
            <a:ext cx="73152" cy="9144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94560"/>
            <a:ext cx="49377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Auto-Reconnect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42032"/>
            <a:ext cx="49377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Timeout + reconnectDelay - Hardware kann ein- und ausgesteckt werden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108960"/>
            <a:ext cx="5212080" cy="914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108960"/>
            <a:ext cx="73152" cy="914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00400"/>
            <a:ext cx="49377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TCP-Emulator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47872"/>
            <a:ext cx="49377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Spiel laeuft komplett ohne echtes Arduino - Python-Emulator simuliert Sensoren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5212080" cy="914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114800"/>
            <a:ext cx="73152" cy="914400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206240"/>
            <a:ext cx="49377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Fallback-Eingabe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53712"/>
            <a:ext cx="49377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Jedes Hardware-Raetsel hat einen Tastatur/Maus-Plan-B im Inspector aktivierbar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120640"/>
            <a:ext cx="5212080" cy="914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5120640"/>
            <a:ext cx="73152" cy="914400"/>
          </a:xfrm>
          <a:prstGeom prst="rect">
            <a:avLst/>
          </a:prstGeom>
          <a:solidFill>
            <a:srgbClr val="FFA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212080"/>
            <a:ext cx="49377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Singleton + DontDestroyOnLoad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559552"/>
            <a:ext cx="49377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Verbindung bleibt scenenuebergreifend offen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Exit-Game  -  Spielvorstellung &amp; Technische Loesung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5156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5156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LEVEL 1 &amp;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Zelle und Abstellraum - der Einstieg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0" cy="381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86400" cy="4297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86400" cy="9144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73152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49377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E6EDF3"/>
                </a:solidFill>
                <a:latin typeface="Segoe UI"/>
              </a:rPr>
              <a:t>Die Zelle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39D353"/>
                </a:solidFill>
                <a:latin typeface="Segoe UI"/>
              </a:rPr>
              <a:t>Mechanik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880360"/>
            <a:ext cx="3749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Hex-Code 66A (-&gt;1642) auf Decke. Numpad-Eingabe oeffnet das Schloss.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39D353"/>
                </a:solidFill>
                <a:latin typeface="Segoe UI"/>
              </a:rPr>
              <a:t>Skripte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383280"/>
            <a:ext cx="3749040" cy="7315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Level1_Cell.cs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ToiletInteraction.cs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NumpadController.cs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39D353"/>
                </a:solidFill>
                <a:latin typeface="Segoe UI"/>
              </a:rPr>
              <a:t>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251960"/>
            <a:ext cx="3749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Keine - reines Unity-Raetsel mit 3D-Welt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600200"/>
            <a:ext cx="5486400" cy="4297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600200"/>
            <a:ext cx="5486400" cy="914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1828800"/>
            <a:ext cx="731520" cy="25603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LEVEL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240280"/>
            <a:ext cx="49377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E6EDF3"/>
                </a:solidFill>
                <a:latin typeface="Segoe UI"/>
              </a:rPr>
              <a:t>Der Abstellraum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8036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Segoe UI"/>
              </a:rPr>
              <a:t>Mechanik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880360"/>
            <a:ext cx="3749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Staub von der Wand pusten + Joystick-Kombination Pfeil hoch-hoch-runter-runter.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38328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Segoe UI"/>
              </a:rPr>
              <a:t>Skripte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383280"/>
            <a:ext cx="3749040" cy="7315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Level2_DustWall.cs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5196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Segoe UI"/>
              </a:rPr>
              <a:t>Hardware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251960"/>
            <a:ext cx="3749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Feuchtigkeitssensor (Atemerkennung) - geplant, mit Tastatur-Fallback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Exit-Game  -  Spielvorstellung &amp; Technische Loesung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51560" cy="256032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5156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LEVEL 3 &amp;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Bibliothek und Computerraum - die Eskalation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0" cy="38100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86400" cy="4297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86400" cy="91440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731520" cy="256032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LEVEL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49377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E6EDF3"/>
                </a:solidFill>
                <a:latin typeface="Segoe UI"/>
              </a:rPr>
              <a:t>Die Bibliothek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00BFC4"/>
                </a:solidFill>
                <a:latin typeface="Segoe UI"/>
              </a:rPr>
              <a:t>Mechanik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880360"/>
            <a:ext cx="3749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Richtige Bibel finden, dann Farbsequenz mit Sensor abscannen.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00BFC4"/>
                </a:solidFill>
                <a:latin typeface="Segoe UI"/>
              </a:rPr>
              <a:t>Skripte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383280"/>
            <a:ext cx="3749040" cy="7315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Level3_ColorCode.cs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HeliosInteraction.cs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00BFC4"/>
                </a:solidFill>
                <a:latin typeface="Segoe UI"/>
              </a:rPr>
              <a:t>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251960"/>
            <a:ext cx="3749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Farbsensor (TCS34725) - sendet COLOR:#hex an Unity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600200"/>
            <a:ext cx="5486400" cy="4297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600200"/>
            <a:ext cx="5486400" cy="91440"/>
          </a:xfrm>
          <a:prstGeom prst="rect">
            <a:avLst/>
          </a:prstGeom>
          <a:solidFill>
            <a:srgbClr val="FFA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1828800"/>
            <a:ext cx="731520" cy="256032"/>
          </a:xfrm>
          <a:prstGeom prst="rect">
            <a:avLst/>
          </a:prstGeom>
          <a:solidFill>
            <a:srgbClr val="FFA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LEVEL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240280"/>
            <a:ext cx="49377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E6EDF3"/>
                </a:solidFill>
                <a:latin typeface="Segoe UI"/>
              </a:rPr>
              <a:t>Der Computerraum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8036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A657"/>
                </a:solidFill>
                <a:latin typeface="Segoe UI"/>
              </a:rPr>
              <a:t>Mechanik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880360"/>
            <a:ext cx="3749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Stealth-Minigame: Spieler-Token muss Wachen mit Sichtkegeln umgehen.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38328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A657"/>
                </a:solidFill>
                <a:latin typeface="Segoe UI"/>
              </a:rPr>
              <a:t>Skripte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383280"/>
            <a:ext cx="3749040" cy="7315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Level4_StealthMinigame.cs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BuildLevel4Computer.cs (Editor)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5196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A657"/>
                </a:solidFill>
                <a:latin typeface="Segoe UI"/>
              </a:rPr>
              <a:t>Hardware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251960"/>
            <a:ext cx="3749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Keine - reines UI-Minigame mit Input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Exit-Game  -  Spielvorstellung &amp; Technische Loesung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51560" cy="256032"/>
          </a:xfrm>
          <a:prstGeom prst="rect">
            <a:avLst/>
          </a:prstGeom>
          <a:solidFill>
            <a:srgbClr val="C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5156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LEVEL 5 &amp;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Werkstatt und Tor - das Finale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0" cy="38100"/>
          </a:xfrm>
          <a:prstGeom prst="rect">
            <a:avLst/>
          </a:prstGeom>
          <a:solidFill>
            <a:srgbClr val="C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86400" cy="4297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86400" cy="91440"/>
          </a:xfrm>
          <a:prstGeom prst="rect">
            <a:avLst/>
          </a:prstGeom>
          <a:solidFill>
            <a:srgbClr val="C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731520" cy="256032"/>
          </a:xfrm>
          <a:prstGeom prst="rect">
            <a:avLst/>
          </a:prstGeom>
          <a:solidFill>
            <a:srgbClr val="C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LEVEL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49377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E6EDF3"/>
                </a:solidFill>
                <a:latin typeface="Segoe UI"/>
              </a:rPr>
              <a:t>Die Werkstatt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C08CFF"/>
                </a:solidFill>
                <a:latin typeface="Segoe UI"/>
              </a:rPr>
              <a:t>Mechanik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880360"/>
            <a:ext cx="3749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Reale Breadboard-Schaltung mit Widerstaenden, LED und Schalter. Korrekte Verschaltung schliesst den Stromkreis.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C08CFF"/>
                </a:solidFill>
                <a:latin typeface="Segoe UI"/>
              </a:rPr>
              <a:t>Skripte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383280"/>
            <a:ext cx="3749040" cy="7315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Level5_Breadboard.cs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BuildLevel5Breadboard.cs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C08CFF"/>
                </a:solidFill>
                <a:latin typeface="Segoe UI"/>
              </a:rPr>
              <a:t>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251960"/>
            <a:ext cx="3749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Arduino Digital-/Analog-Pins (Cmd 0x50) - echtes Steckbrett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600200"/>
            <a:ext cx="5486400" cy="4297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600200"/>
            <a:ext cx="5486400" cy="91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1828800"/>
            <a:ext cx="731520" cy="25603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82880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LEVEL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240280"/>
            <a:ext cx="493776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E6EDF3"/>
                </a:solidFill>
                <a:latin typeface="Segoe UI"/>
              </a:rPr>
              <a:t>Das 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88036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6B6B"/>
                </a:solidFill>
                <a:latin typeface="Segoe UI"/>
              </a:rPr>
              <a:t>Mechanik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880360"/>
            <a:ext cx="3749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Schloss erhitzen (Foehn/Bunsenbrenner-Metapher) - Temperatur muss in Schwelle gehalten werden.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38328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6B6B"/>
                </a:solidFill>
                <a:latin typeface="Segoe UI"/>
              </a:rPr>
              <a:t>Skripte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383280"/>
            <a:ext cx="3749040" cy="7315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Level6_FinalGate.cs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Consolas"/>
              </a:rPr>
              <a:t>BuildLevel6FinalGate.cs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51960"/>
            <a:ext cx="12801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6B6B"/>
                </a:solidFill>
                <a:latin typeface="Segoe UI"/>
              </a:rPr>
              <a:t>Hardware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251960"/>
            <a:ext cx="37490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Temperatursensor (DS18B20) - sendet TEMP:xx an Unity (Cmd 0x60)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Exit-Game  -  Spielvorstellung &amp; Technische Loesung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417320" cy="256032"/>
          </a:xfrm>
          <a:prstGeom prst="rect">
            <a:avLst/>
          </a:prstGeom>
          <a:solidFill>
            <a:srgbClr val="FFA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4173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Was war hart - und wie haben wir es geloest?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0" cy="38100"/>
          </a:xfrm>
          <a:prstGeom prst="rect">
            <a:avLst/>
          </a:prstGeom>
          <a:solidFill>
            <a:srgbClr val="FFA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6424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0" cy="25603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411480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Segoe UI"/>
              </a:rPr>
              <a:t>Serial blockiert 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41148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SerialPort.Read() ist synchron und friert den Mainthread ein.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37760" y="2103120"/>
            <a:ext cx="365760" cy="320040"/>
          </a:xfrm>
          <a:prstGeom prst="rightArrow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40680" y="1828800"/>
            <a:ext cx="73152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182880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LOESUNG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148840"/>
            <a:ext cx="603504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Segoe UI"/>
              </a:rPr>
              <a:t>Hintergrund-Thread + ConcurrentQueue + Mainthread-Dispatch im Update().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62072"/>
            <a:ext cx="1106424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999232"/>
            <a:ext cx="731520" cy="25603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99232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19272"/>
            <a:ext cx="411480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Segoe UI"/>
              </a:rPr>
              <a:t>Hardware nicht immer 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39312"/>
            <a:ext cx="41148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Tests, Demos und Praesentationen ohne echtes Arduino moeglich machen.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37760" y="3273552"/>
            <a:ext cx="365760" cy="320040"/>
          </a:xfrm>
          <a:prstGeom prst="rightArrow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2999232"/>
            <a:ext cx="73152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2999232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LOESUNG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319272"/>
            <a:ext cx="603504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Segoe UI"/>
              </a:rPr>
              <a:t>TCP-Emulator (Python) + Inspector-Schalter useTcpEmulator + Fallback-Mode pro Level.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32504"/>
            <a:ext cx="1106424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169664"/>
            <a:ext cx="731520" cy="25603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169664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489704"/>
            <a:ext cx="411480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Segoe UI"/>
              </a:rPr>
              <a:t>Szenenwechsel reisst Singletons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09744"/>
            <a:ext cx="41148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ArduinoBridge und GameManager duerfen nicht neu initialisiert werden.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937760" y="4443984"/>
            <a:ext cx="365760" cy="320040"/>
          </a:xfrm>
          <a:prstGeom prst="rightArrow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0680" y="4169664"/>
            <a:ext cx="73152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4169664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LOESUNG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4489704"/>
            <a:ext cx="603504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Segoe UI"/>
              </a:rPr>
              <a:t>DontDestroyOnLoad + Instance-Check in Awake() - alte Instanzen werden zerstoert.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202936"/>
            <a:ext cx="11064240" cy="1097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340096"/>
            <a:ext cx="731520" cy="25603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340096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PROBLEM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60136"/>
            <a:ext cx="411480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Segoe UI"/>
              </a:rPr>
              <a:t>Editor-Builder serialisieren nicht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980176"/>
            <a:ext cx="41148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Reflection-basiertes Setzen privater Felder ueberlebte das Speichern nicht.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937760" y="5614416"/>
            <a:ext cx="365760" cy="320040"/>
          </a:xfrm>
          <a:prstGeom prst="rightArrow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40680" y="5340096"/>
            <a:ext cx="73152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40680" y="5340096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LOESUNG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5660136"/>
            <a:ext cx="603504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Segoe UI"/>
              </a:rPr>
              <a:t>Umstellung auf SerializedObject + FindProperty + ApplyModifiedPropertiesWithoutUndo.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Exit-Game  -  Spielvorstellung &amp; Technische Loesung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7724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AUSBLICK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Naechste Schritte fuer das Projekt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0" cy="3810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657600" cy="4389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3657600" cy="91440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20240"/>
            <a:ext cx="105156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105156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KURZFRISTIG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31089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naechste 2 Wochen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852928"/>
            <a:ext cx="109728" cy="109728"/>
          </a:xfrm>
          <a:prstGeom prst="ellipse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43200"/>
            <a:ext cx="28803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Joshi-NPC mit eigener Stimme in Level 2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538728"/>
            <a:ext cx="109728" cy="109728"/>
          </a:xfrm>
          <a:prstGeom prst="ellipse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429000"/>
            <a:ext cx="28803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Bibel-Auswahl-Mechanik in Level 3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224528"/>
            <a:ext cx="109728" cy="109728"/>
          </a:xfrm>
          <a:prstGeom prst="ellipse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114800"/>
            <a:ext cx="28803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Decken-Hex-Hinweis 66A als 3D-Objekt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910328"/>
            <a:ext cx="109728" cy="109728"/>
          </a:xfrm>
          <a:prstGeom prst="ellipse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00600"/>
            <a:ext cx="28803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Fallback-UI fuer alle Sensoren testen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691640"/>
            <a:ext cx="3657600" cy="4389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1691640"/>
            <a:ext cx="3657600" cy="914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1920240"/>
            <a:ext cx="1234440" cy="25603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920240"/>
            <a:ext cx="123444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MITTELFRISTIG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286000"/>
            <a:ext cx="31089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naechster Monat</a:t>
            </a:r>
          </a:p>
        </p:txBody>
      </p:sp>
      <p:sp>
        <p:nvSpPr>
          <p:cNvPr id="25" name="Oval 24"/>
          <p:cNvSpPr/>
          <p:nvPr/>
        </p:nvSpPr>
        <p:spPr>
          <a:xfrm>
            <a:off x="4663440" y="2852928"/>
            <a:ext cx="109728" cy="109728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2743200"/>
            <a:ext cx="28803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Soundkulisse pro Level (Ambient + SFX)</a:t>
            </a:r>
          </a:p>
        </p:txBody>
      </p:sp>
      <p:sp>
        <p:nvSpPr>
          <p:cNvPr id="27" name="Oval 26"/>
          <p:cNvSpPr/>
          <p:nvPr/>
        </p:nvSpPr>
        <p:spPr>
          <a:xfrm>
            <a:off x="4663440" y="3538728"/>
            <a:ext cx="109728" cy="109728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3429000"/>
            <a:ext cx="28803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Speicher-/Resume-System fuer lange Sessions</a:t>
            </a:r>
          </a:p>
        </p:txBody>
      </p:sp>
      <p:sp>
        <p:nvSpPr>
          <p:cNvPr id="29" name="Oval 28"/>
          <p:cNvSpPr/>
          <p:nvPr/>
        </p:nvSpPr>
        <p:spPr>
          <a:xfrm>
            <a:off x="4663440" y="4224528"/>
            <a:ext cx="109728" cy="109728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4114800"/>
            <a:ext cx="28803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Verbessertes Stealth-AI in Level 4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4910328"/>
            <a:ext cx="109728" cy="109728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4800600"/>
            <a:ext cx="28803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Foehn/Brenner-Visualisierung in Level 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1691640"/>
            <a:ext cx="3657600" cy="4389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1691640"/>
            <a:ext cx="3657600" cy="91440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03920" y="1920240"/>
            <a:ext cx="1051560" cy="256032"/>
          </a:xfrm>
          <a:prstGeom prst="rect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1920240"/>
            <a:ext cx="105156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LANGFRISTIG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286000"/>
            <a:ext cx="31089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Ausblick</a:t>
            </a:r>
          </a:p>
        </p:txBody>
      </p:sp>
      <p:sp>
        <p:nvSpPr>
          <p:cNvPr id="38" name="Oval 37"/>
          <p:cNvSpPr/>
          <p:nvPr/>
        </p:nvSpPr>
        <p:spPr>
          <a:xfrm>
            <a:off x="8503920" y="2852928"/>
            <a:ext cx="109728" cy="109728"/>
          </a:xfrm>
          <a:prstGeom prst="ellipse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2743200"/>
            <a:ext cx="28803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Mehrspieler-Variante (zwei Spieler kooperieren)</a:t>
            </a:r>
          </a:p>
        </p:txBody>
      </p:sp>
      <p:sp>
        <p:nvSpPr>
          <p:cNvPr id="40" name="Oval 39"/>
          <p:cNvSpPr/>
          <p:nvPr/>
        </p:nvSpPr>
        <p:spPr>
          <a:xfrm>
            <a:off x="8503920" y="3538728"/>
            <a:ext cx="109728" cy="109728"/>
          </a:xfrm>
          <a:prstGeom prst="ellipse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3429000"/>
            <a:ext cx="28803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Editor zum eigenen Level-Erstellen</a:t>
            </a:r>
          </a:p>
        </p:txBody>
      </p:sp>
      <p:sp>
        <p:nvSpPr>
          <p:cNvPr id="42" name="Oval 41"/>
          <p:cNvSpPr/>
          <p:nvPr/>
        </p:nvSpPr>
        <p:spPr>
          <a:xfrm>
            <a:off x="8503920" y="4224528"/>
            <a:ext cx="109728" cy="109728"/>
          </a:xfrm>
          <a:prstGeom prst="ellipse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4114800"/>
            <a:ext cx="28803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Web-Build mit emulierter Hardware</a:t>
            </a:r>
          </a:p>
        </p:txBody>
      </p:sp>
      <p:sp>
        <p:nvSpPr>
          <p:cNvPr id="44" name="Oval 43"/>
          <p:cNvSpPr/>
          <p:nvPr/>
        </p:nvSpPr>
        <p:spPr>
          <a:xfrm>
            <a:off x="8503920" y="4910328"/>
            <a:ext cx="109728" cy="109728"/>
          </a:xfrm>
          <a:prstGeom prst="ellipse">
            <a:avLst/>
          </a:prstGeom>
          <a:solidFill>
            <a:srgbClr val="00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4800600"/>
            <a:ext cx="28803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E6EDF3"/>
                </a:solidFill>
                <a:latin typeface="Segoe UI"/>
              </a:rPr>
              <a:t>Showcase auf Event mit echtem Aufbau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Exit-Game  -  Spielvorstellung &amp; Technische Loesung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457200"/>
            <a:ext cx="18288000" cy="36576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0" y="6400800"/>
            <a:ext cx="1828800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731520" cy="256032"/>
          </a:xfrm>
          <a:prstGeom prst="rect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731520" cy="25603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DANKE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972800" cy="12801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5800" b="1">
                <a:solidFill>
                  <a:srgbClr val="E6EDF3"/>
                </a:solidFill>
                <a:latin typeface="Segoe UI"/>
              </a:rPr>
              <a:t>Vielen Dank fuers</a:t>
            </a:r>
          </a:p>
          <a:p>
            <a:pPr algn="l"/>
            <a:r>
              <a:rPr sz="5800" b="1">
                <a:solidFill>
                  <a:srgbClr val="E6EDF3"/>
                </a:solidFill>
                <a:latin typeface="Segoe UI"/>
              </a:rPr>
              <a:t>Mitspielen und Zuhoeren.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97280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58A6FF"/>
                </a:solidFill>
                <a:latin typeface="Segoe UI"/>
              </a:rPr>
              <a:t>Fragen, Feedback, Ausprobieren?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54880"/>
            <a:ext cx="3474720" cy="128016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31089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  <a:latin typeface="Segoe UI"/>
              </a:rPr>
              <a:t>Spielerlebnis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303520"/>
            <a:ext cx="31089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Was war intuitiv, was war frustrierend?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4754880"/>
            <a:ext cx="3474720" cy="128016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4937760"/>
            <a:ext cx="31089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  <a:latin typeface="Segoe UI"/>
              </a:rPr>
              <a:t>Technik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303520"/>
            <a:ext cx="31089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Wie soll sich das Hardware-Spiel anfuehlen?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754880"/>
            <a:ext cx="3474720" cy="128016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4937760"/>
            <a:ext cx="310896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  <a:latin typeface="Segoe UI"/>
              </a:rPr>
              <a:t>Ideen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5303520"/>
            <a:ext cx="31089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Segoe UI"/>
              </a:rPr>
              <a:t>Welche Mechanik fehlt - was wuerden Sie hinzufuegen?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Segoe UI"/>
              </a:rPr>
              <a:t>Exit-Game  -  Spielvorstellung &amp; Technische Loesung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Segoe U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